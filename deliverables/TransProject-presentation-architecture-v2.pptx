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fd600ce32d43a3" /><Relationship Type="http://schemas.openxmlformats.org/officeDocument/2006/relationships/extended-properties" Target="/docProps/app.xml" Id="R930e78bceaaa4743" /><Relationship Type="http://schemas.openxmlformats.org/officeDocument/2006/relationships/officeDocument" Target="/ppt/presentation.xml" Id="R92499132866b43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9e32d3b24442e"/>
  </p:sldMasterIdLst>
  <p:notesMasterIdLst>
    <p:notesMasterId xmlns:r="http://schemas.openxmlformats.org/officeDocument/2006/relationships" r:id="Rb6724158a3a24e68"/>
  </p:notesMasterIdLst>
  <p:sldIdLst>
    <p:sldId xmlns:r="http://schemas.openxmlformats.org/officeDocument/2006/relationships" id="256" r:id="Reb1db22394304c2a"/>
    <p:sldId xmlns:r="http://schemas.openxmlformats.org/officeDocument/2006/relationships" id="257" r:id="Rc648f3e5dad94844"/>
    <p:sldId xmlns:r="http://schemas.openxmlformats.org/officeDocument/2006/relationships" id="258" r:id="R24b8b633bf8543fe"/>
    <p:sldId xmlns:r="http://schemas.openxmlformats.org/officeDocument/2006/relationships" id="259" r:id="Ra01ec5a452794b13"/>
    <p:sldId xmlns:r="http://schemas.openxmlformats.org/officeDocument/2006/relationships" id="260" r:id="Rac06dcb4dc3d4317"/>
    <p:sldId xmlns:r="http://schemas.openxmlformats.org/officeDocument/2006/relationships" id="261" r:id="R2e32cb63420f4c5c"/>
    <p:sldId xmlns:r="http://schemas.openxmlformats.org/officeDocument/2006/relationships" id="262" r:id="Recf4971f2c5343d4"/>
    <p:sldId xmlns:r="http://schemas.openxmlformats.org/officeDocument/2006/relationships" id="263" r:id="Rf752e12d0cde4992"/>
    <p:sldId xmlns:r="http://schemas.openxmlformats.org/officeDocument/2006/relationships" id="264" r:id="Recf3b570b44540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06dd75ea9847e5" /><Relationship Type="http://schemas.openxmlformats.org/officeDocument/2006/relationships/slideMaster" Target="/ppt/slideMasters/slideMaster1.xml" Id="R6059e32d3b24442e" /><Relationship Type="http://schemas.openxmlformats.org/officeDocument/2006/relationships/notesMaster" Target="/ppt/notesMasters/notesMaster1.xml" Id="Rb6724158a3a24e68" /><Relationship Type="http://schemas.openxmlformats.org/officeDocument/2006/relationships/presProps" Target="/ppt/presProps.xml" Id="R5729b7098d8d4957" /><Relationship Type="http://schemas.openxmlformats.org/officeDocument/2006/relationships/tableStyles" Target="/ppt/tableStyles.xml" Id="R3e54b3ad89f643b6" /><Relationship Type="http://schemas.openxmlformats.org/officeDocument/2006/relationships/slide" Target="/ppt/slides/slide1.xml" Id="Reb1db22394304c2a" /><Relationship Type="http://schemas.openxmlformats.org/officeDocument/2006/relationships/slide" Target="/ppt/slides/slide2.xml" Id="Rc648f3e5dad94844" /><Relationship Type="http://schemas.openxmlformats.org/officeDocument/2006/relationships/slide" Target="/ppt/slides/slide3.xml" Id="R24b8b633bf8543fe" /><Relationship Type="http://schemas.openxmlformats.org/officeDocument/2006/relationships/slide" Target="/ppt/slides/slide4.xml" Id="Ra01ec5a452794b13" /><Relationship Type="http://schemas.openxmlformats.org/officeDocument/2006/relationships/slide" Target="/ppt/slides/slide5.xml" Id="Rac06dcb4dc3d4317" /><Relationship Type="http://schemas.openxmlformats.org/officeDocument/2006/relationships/slide" Target="/ppt/slides/slide6.xml" Id="R2e32cb63420f4c5c" /><Relationship Type="http://schemas.openxmlformats.org/officeDocument/2006/relationships/slide" Target="/ppt/slides/slide7.xml" Id="Recf4971f2c5343d4" /><Relationship Type="http://schemas.openxmlformats.org/officeDocument/2006/relationships/slide" Target="/ppt/slides/slide8.xml" Id="Rf752e12d0cde4992" /><Relationship Type="http://schemas.openxmlformats.org/officeDocument/2006/relationships/slide" Target="/ppt/slides/slide9.xml" Id="Recf3b570b44540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29b2e05ec4c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d77930c4bd4acf" /><Relationship Type="http://schemas.openxmlformats.org/officeDocument/2006/relationships/notesMaster" Target="/ppt/notesMasters/notesMaster1.xml" Id="Re1e3da663cfd48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5f701b9eba44bd" /><Relationship Type="http://schemas.openxmlformats.org/officeDocument/2006/relationships/notesMaster" Target="/ppt/notesMasters/notesMaster1.xml" Id="R1780ccc1deee48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347b77609e4b75" /><Relationship Type="http://schemas.openxmlformats.org/officeDocument/2006/relationships/notesMaster" Target="/ppt/notesMasters/notesMaster1.xml" Id="Rb66289caee21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d72f2f429b4c7b" /><Relationship Type="http://schemas.openxmlformats.org/officeDocument/2006/relationships/notesMaster" Target="/ppt/notesMasters/notesMaster1.xml" Id="R084fa9aed9f54e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a59747a8f847be" /><Relationship Type="http://schemas.openxmlformats.org/officeDocument/2006/relationships/notesMaster" Target="/ppt/notesMasters/notesMaster1.xml" Id="Rc1f8e8f61ced48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e9b4157e3b404e" /><Relationship Type="http://schemas.openxmlformats.org/officeDocument/2006/relationships/notesMaster" Target="/ppt/notesMasters/notesMaster1.xml" Id="Rf1a74dcf6ebb47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0d16490bba4387" /><Relationship Type="http://schemas.openxmlformats.org/officeDocument/2006/relationships/notesMaster" Target="/ppt/notesMasters/notesMaster1.xml" Id="R1850b0a03eb440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81b37b6d2643d3" /><Relationship Type="http://schemas.openxmlformats.org/officeDocument/2006/relationships/notesMaster" Target="/ppt/notesMasters/notesMaster1.xml" Id="R7fd878e00de14f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6a5f07b5f3482d" /><Relationship Type="http://schemas.openxmlformats.org/officeDocument/2006/relationships/notesMaster" Target="/ppt/notesMasters/notesMaster1.xml" Id="R6f5eed695ebd48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README.md ; docs/architecture/00-overview.md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README.md ; docs/architecture/00-overview.md — état observé au Sprint 0 et cible recommandée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docs/architecture/diagrams/01-use-cases/global-use-cases.mmd ; EXPLICATIONS.md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docs/architecture/diagrams/02-domain/domain-overview.mmd ; domain-model.md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docs/architecture/diagrams/03-sequences/collection-and-alert.mmd ; 04-activities/incident-lifecycle.mmd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docs/architecture/diagrams/05-states/alert-lifecycle.mmd ; 03-sequences/acknowledge-and-resolve-alert.mmd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docs/architecture/diagrams/06-components/components.mmd ; 02-domain/design-model.mmd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docs/architecture/diagrams/07-deployment/deployment-current.mmd et deployment-target.mmd ; docs/devops/architecture.md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interne : docs/architecture/00-overview.md — workflows prioritaires, invariants et points à confirmer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d56a3597848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92f446d85e4fa4" /><Relationship Type="http://schemas.openxmlformats.org/officeDocument/2006/relationships/slideLayout" Target="/ppt/slideLayouts/slideLayout1.xml" Id="R92a46309117840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a46309117840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ae128f94d4c95" /><Relationship Type="http://schemas.openxmlformats.org/officeDocument/2006/relationships/notesSlide" Target="/ppt/notesSlides/notesSlide1.xml" Id="R0fe0a01d84354e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597dbe15e45f7" /><Relationship Type="http://schemas.openxmlformats.org/officeDocument/2006/relationships/notesSlide" Target="/ppt/notesSlides/notesSlide2.xml" Id="R363cd919a0bb41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42df9fd2745c1" /><Relationship Type="http://schemas.openxmlformats.org/officeDocument/2006/relationships/notesSlide" Target="/ppt/notesSlides/notesSlide3.xml" Id="R20688e1e43d24a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a3eac06534823" /><Relationship Type="http://schemas.openxmlformats.org/officeDocument/2006/relationships/notesSlide" Target="/ppt/notesSlides/notesSlide4.xml" Id="Ra19f5fa32ce2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9355ebca8436c" /><Relationship Type="http://schemas.openxmlformats.org/officeDocument/2006/relationships/notesSlide" Target="/ppt/notesSlides/notesSlide5.xml" Id="R1c46aab3aad942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6928a38d24175" /><Relationship Type="http://schemas.openxmlformats.org/officeDocument/2006/relationships/notesSlide" Target="/ppt/notesSlides/notesSlide6.xml" Id="R6f6a0f0e09b849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feb1cd3b142a3" /><Relationship Type="http://schemas.openxmlformats.org/officeDocument/2006/relationships/notesSlide" Target="/ppt/notesSlides/notesSlide7.xml" Id="Rdf7525fc640d47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4614e7edb431d" /><Relationship Type="http://schemas.openxmlformats.org/officeDocument/2006/relationships/notesSlide" Target="/ppt/notesSlides/notesSlide8.xml" Id="Ra3aa38f9ac164b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28618dc5240bd" /><Relationship Type="http://schemas.openxmlformats.org/officeDocument/2006/relationships/notesSlide" Target="/ppt/notesSlides/notesSlide9.xml" Id="Rfe65fecbae4f40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747F3-0CB0-414E-ADBC-A1B821DB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0">
            <a:solidFill>
              <a:srgbClr val="25B4D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492C6-CB8C-4B3E-A087-8B879C3A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TRANS-DIC1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BF923-6FE2-461C-9E6A-850D1973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Supervision centralisée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 infrastructures 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87327-7D50-4A9B-A637-69F99CE1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Architecture fonctionnelle et technique issue des diagrammes du projet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14EA3-B809-4C79-A6AE-C4618941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381125"/>
            <a:ext cx="228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59"/>
          </a:solidFill>
          <a:ln xmlns:a="http://schemas.openxmlformats.org/drawingml/2006/main" w="9525">
            <a:solidFill>
              <a:srgbClr val="2B6C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Équipements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14508-A633-44B2-8B4E-D6A70DEE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28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59"/>
          </a:solidFill>
          <a:ln xmlns:a="http://schemas.openxmlformats.org/drawingml/2006/main" w="9525">
            <a:solidFill>
              <a:srgbClr val="2B6C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717BE-49A6-4D47-A27F-A6840582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228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59"/>
          </a:solidFill>
          <a:ln xmlns:a="http://schemas.openxmlformats.org/drawingml/2006/main" w="9525">
            <a:solidFill>
              <a:srgbClr val="2B6C91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B8C73-B359-4A30-A2F5-9DDB76FA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67250"/>
            <a:ext cx="2286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Pilotage NOC</a:t>
            </a:r>
          </a:p>
        </p:txBody>
      </p:sp>
      <p:cxnSp>
        <p:nvCxnSpPr>
          <p:cNvPr id="21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429750" y="20478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B4D8"/>
            </a:solidFill>
            <a:prstDash val="solid"/>
            <a:tailEnd type="triangle" w="sm" len="sm"/>
          </a:ln>
        </p:spPr>
      </p:cxnSp>
      <p:cxnSp>
        <p:nvCxnSpPr>
          <p:cNvPr id="22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9429750" y="31432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B4D8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429750" y="42386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B4D8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BBAD9-5F0C-474C-AB50-197B9A02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FC8D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FC8D6"/>
                </a:solidFill>
                <a:latin typeface="Arial"/>
                <a:ea typeface="Arial"/>
                <a:cs typeface="Arial"/>
              </a:rPr>
              <a:t>Octobre 2026</a:t>
            </a:r>
          </a:p>
        </p:txBody>
      </p:sp>
    </p:spTree>
    <p:extLst>
      <p:ext uri="{BB962C8B-B14F-4D97-AF65-F5344CB8AC3E}">
        <p14:creationId xmlns:p14="http://schemas.microsoft.com/office/powerpoint/2010/main" val="16181561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C821A-3FD6-4C87-BB8E-F736017A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VISION DU PROJET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95013-CA7A-4779-B53A-537F6BEE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Une plateforme pour voir, détecter et traiter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1AF20-BF4A-4616-8CF8-AC0EA8EE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4811D-00FE-4F11-B734-FB762A8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Trans-DIC1 centralise la supervision réseau et serveurs de l’École Polytechnique de Thiès. La chaîne métier relie chaque mesure à une décision opérationnelle traçable.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12904-A918-4041-9035-B0ECD6C0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Inventorier</a:t>
            </a:r>
          </a:p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les actifs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5B5D3-B071-46F5-AA5D-B6BDA3C3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Collecter</a:t>
            </a:r>
          </a:p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les métriques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19350" y="3200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D42FA-9A8B-46E7-8702-BEE6B061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1267A5"/>
          </a:solidFill>
          <a:ln xmlns:a="http://schemas.openxmlformats.org/drawingml/2006/main" w="9525">
            <a:solidFill>
              <a:srgbClr val="1267A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Détecter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 incidents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19625" y="3200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82770-A378-4117-8B32-CC35845E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Traiter</a:t>
            </a:r>
          </a:p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les alertes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819900" y="3200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EAAA7-E2CD-47B5-95D8-16DE0BE8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18097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Produire</a:t>
            </a:r>
          </a:p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les rapports</a:t>
            </a:r>
          </a:p>
        </p:txBody>
      </p: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020175" y="320040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C84F6-1ADD-4627-B732-4E77B187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143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DE5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5C0CD-E563-4DE7-9CBD-C59238B5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État actuel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0AFC4-F751-4D0A-939B-CEF5ED7D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Socle Sprint 0 opérationnel</a:t>
            </a:r>
          </a:p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API, interface, PostgreSQL, tests et CI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044189-1FD6-4E0A-8D3E-CA15FFC7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33875"/>
            <a:ext cx="550545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4410AE-B87E-412F-9520-D97435D3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Cible métier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4D45A-38FB-4921-AB59-8A7CED67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Inventaire, collecte Zabbix/SNMP, alerting, notifications, rapports, RBAC et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03EEE-86FA-4F74-81FF-9992CE03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ED171-856B-41B2-810E-3BBB3611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3721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7E842A-B890-4C09-B71B-C1609880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CAS D’UTILISATION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E116A-9E00-4934-98E8-ED6325A4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Acteurs et responsabilités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5B5CD-7823-4DB3-98C6-C94D25CF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A6FB5-1C90-47D3-9DFC-C4051025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552450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F3F8FB"/>
          </a:solidFill>
          <a:ln xmlns:a="http://schemas.openxmlformats.org/drawingml/2006/main" w="9525">
            <a:solidFill>
              <a:srgbClr val="B9D3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6143B-23AA-4E75-AD54-59504042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TRANS-DIC1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9776C-DBCA-4B88-8E32-36881E2A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33625"/>
            <a:ext cx="3810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Tableau de bord</a:t>
            </a:r>
          </a:p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Métriques et alertes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694A6-126F-4076-A77C-F35C5B3E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3810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Inventaire, rôles</a:t>
            </a:r>
          </a:p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et règles d’alerte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2CFDE2-629E-4A2A-B1A5-32CF737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19625"/>
            <a:ext cx="3810000" cy="857250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Acquittement, résolution</a:t>
            </a:r>
          </a:p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et rapports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6733A-9B49-479D-8725-A226ECBB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5E0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Administrateur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71875-07F8-4C91-B4ED-BC3707C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5E0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Opérateur NOC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9B3D0-C01F-4A37-8B6A-71E2A431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C5E0E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Lecteur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CD1C8-B075-4800-992E-8C4E58E4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952625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Planificateur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0FEDA-3E4D-43EC-B058-9A92FC71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Équipement / Zabbix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08714-024B-4F51-8D1C-BA9E0360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33875"/>
            <a:ext cx="2095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Service SMTP</a:t>
            </a:r>
          </a:p>
        </p:txBody>
      </p: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14625" y="2262188"/>
            <a:ext cx="619125" cy="1404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14625" y="3452813"/>
            <a:ext cx="619125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2714625" y="3667125"/>
            <a:ext cx="619125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8858250" y="2262188"/>
            <a:ext cx="619125" cy="1404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8858250" y="3452813"/>
            <a:ext cx="619125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4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 flipV="1">
            <a:off x="8858250" y="3667125"/>
            <a:ext cx="619125" cy="976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E11D9-3931-4F83-A25B-B4A7D65F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15CD0-E133-46FD-8CC3-365CDB09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8421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3D4A7-C08D-4963-88CC-CB76D808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MODÈLE MÉTIER 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CD5F2-4149-4DE8-827A-751D62CD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Le domaine relie l’infrastructure à l’incident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97C93-E474-4A5A-95C0-C068579F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C300B-0084-4FCE-8C07-BF61F09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524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36B92-A42D-4242-A786-3F1CD552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52625"/>
            <a:ext cx="18097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9DCBDD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Équipement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083EC-4622-4CF0-9273-7F003779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Métrique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AE8A7-45A7-4383-ADEC-51483DE4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Règle d’alerte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4A6AB-71E4-46C9-B582-1933A7FB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1714500" cy="809625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1267A5"/>
          </a:solidFill>
          <a:ln xmlns:a="http://schemas.openxmlformats.org/drawingml/2006/main" w="9525">
            <a:solidFill>
              <a:srgbClr val="1267A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Alerte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6CD44-9F71-4E8F-93FB-3226FD11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9526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Notification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CD89B-A186-4162-B732-A0B7023D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95262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Rapport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5EB753-38B0-489B-932F-362CE663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72000"/>
            <a:ext cx="1714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9525">
            <a:solidFill>
              <a:srgbClr val="B9DF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7A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27A5F"/>
                </a:solidFill>
                <a:latin typeface="Arial"/>
                <a:ea typeface="Arial"/>
                <a:cs typeface="Arial"/>
              </a:rPr>
              <a:t>Utilisateur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143125" y="22860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29125" y="22860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67500" y="2286000"/>
            <a:ext cx="619125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667500" y="3071813"/>
            <a:ext cx="619125" cy="642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9001125" y="2286000"/>
            <a:ext cx="619125" cy="7858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001125" y="3071813"/>
            <a:ext cx="619125" cy="1119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1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8143875" y="347662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A981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48813-85D3-434A-A7E1-1790F180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764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432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regroupe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23CBF-8EA0-4FE3-A89D-B271BB1A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produit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C2473-48EE-4CC8-BD57-979CAE7C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32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déclenche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D19955-A60D-4854-A41B-571A82B7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Principes : métriques immuables et horodatées en UTC, une alerte active par occurrence continue, actions sensibles auditées.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A47D8-A0F2-44B0-90F8-C9AC05AA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1C29B-C97A-4CAC-A46C-0B90CF1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8514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B9756E-3BF5-476C-9141-49295AA9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FLUX DE COLLECTE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C1791-CA46-4A65-96B0-BCF71535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De l’observation brute à l’alerte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DEE14-5D22-4165-967C-DC2D2C3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07F8B-5DD4-45ED-B63B-15918A45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FA8AB-E273-4141-A243-36CF1F97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C5F6E-16A2-450E-8747-EE125C49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Planification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44A89-4F79-4BFC-A2CE-C96A63D1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Déclenche un cycle sans doublon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FBBF9-2EC3-4D91-BE70-F2D1F16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E11A5-2321-41DD-8FB2-B986006A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B178D-7187-4C29-A1E9-98773A1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Collecte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A4189-9494-4E8E-A353-E14A34CE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Interroge Zabbix ou SNMP</a:t>
            </a:r>
          </a:p>
        </p:txBody>
      </p:sp>
      <p:cxnSp>
        <p:nvCxnSpPr>
          <p:cNvPr id="49" name=""/>
          <p:cNvCxnSpPr>
            <a:stCxn xmlns:a="http://schemas.openxmlformats.org/drawingml/2006/main" id="4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68592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EDF9E-CB33-426F-8A37-B99C686F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58E60-9F65-47F4-833F-8268AC78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3CFC5-A0E8-485E-BDC3-4EEDE9B6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Normalisation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C29AF-0A22-4694-8E28-B14C5AEC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Valide, convertit et horodate en UTC</a:t>
            </a:r>
          </a:p>
        </p:txBody>
      </p:sp>
      <p:cxnSp>
        <p:nvCxnSpPr>
          <p:cNvPr id="54" name=""/>
          <p:cNvCxnSpPr>
            <a:stCxn xmlns:a="http://schemas.openxmlformats.org/drawingml/2006/main" id="8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360997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998FD-52D2-4D0F-9C85-04685E20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C249CF-84AE-4BBC-A54E-BE0EDE92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6E690-169B-497F-B6FA-D3333DD1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Persistance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F55E3-EB10-42FE-9913-8265E9CE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Conserve la métrique par équipement</a:t>
            </a:r>
          </a:p>
        </p:txBody>
      </p:sp>
      <p:cxnSp>
        <p:nvCxnSpPr>
          <p:cNvPr id="59" name=""/>
          <p:cNvCxnSpPr>
            <a:stCxn xmlns:a="http://schemas.openxmlformats.org/drawingml/2006/main" id="13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553402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858821-2C44-4B67-98F4-DB2D7B26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B4D8"/>
          </a:solidFill>
          <a:ln xmlns:a="http://schemas.openxmlformats.org/drawingml/2006/main" w="9525">
            <a:solidFill>
              <a:srgbClr val="25B4D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3CB5F8-AFA4-4500-9FEF-1D555124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572D9-FD36-405D-B7FE-6CFD5A86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Évaluation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698B8D-2FB7-483B-A8A1-BC409CB7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Applique seuil et durée de confirmation</a:t>
            </a:r>
          </a:p>
        </p:txBody>
      </p:sp>
      <p:cxnSp>
        <p:nvCxnSpPr>
          <p:cNvPr id="64" name=""/>
          <p:cNvCxnSpPr>
            <a:stCxn xmlns:a="http://schemas.openxmlformats.org/drawingml/2006/main" id="18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745807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F39C5-50D2-4218-9503-49E041F4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6668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7A5"/>
          </a:solidFill>
          <a:ln xmlns:a="http://schemas.openxmlformats.org/drawingml/2006/main" w="9525">
            <a:solidFill>
              <a:srgbClr val="1267A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7096F-6133-4FDE-9707-E21E6131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28875"/>
            <a:ext cx="1714500" cy="20193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8FC4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5DD18-3B1D-4276-ABC6-1C811C33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47950"/>
            <a:ext cx="144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Alerte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23ABB6-FCEB-4615-8442-2C49EE7B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6230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Ouvre ou met à jour l’incident</a:t>
            </a:r>
          </a:p>
        </p:txBody>
      </p:sp>
      <p:cxnSp>
        <p:nvCxnSpPr>
          <p:cNvPr id="69" name=""/>
          <p:cNvCxnSpPr>
            <a:stCxn xmlns:a="http://schemas.openxmlformats.org/drawingml/2006/main" id="23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9382125" y="1943100"/>
            <a:ext cx="1371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9A8DF9-E630-4EA7-8802-39030B89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9334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9525">
            <a:solidFill>
              <a:srgbClr val="0A254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9EB25-4E65-4A4C-9AFC-083321C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673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Règle de déduplication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597C1-AB88-4CBB-A2A0-338F6EA4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 une alerte active représente déjà l’incident, le système la met à jour au lieu d’en créer une nouvelle.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BBAA6A-BE42-4B9F-8E8C-C9ED1430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C07496-454B-4965-B443-176343D7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66053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DC086-3274-455E-9626-A663424A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TRAITEMENT D’INCIDENT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E0213-30C7-4FC7-9FE5-DBDE4F21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Cycle de vie contrôlé d’une alerte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95DBF6-8EBE-4250-8805-94FE091F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9F999-ADEE-44B9-A66C-BB89EFC7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2476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DECEB"/>
          </a:solidFill>
          <a:ln xmlns:a="http://schemas.openxmlformats.org/drawingml/2006/main" w="9525">
            <a:solidFill>
              <a:srgbClr val="F4B7B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OUVERTE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008CE-B7B4-40B4-AA2A-49BB6311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476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FF3DD"/>
          </a:solidFill>
          <a:ln xmlns:a="http://schemas.openxmlformats.org/drawingml/2006/main" w="9525">
            <a:solidFill>
              <a:srgbClr val="EDC67E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ACQUITTÉE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21986-F930-4922-8E19-CF95C7EF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0"/>
            <a:ext cx="24765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9F6F1"/>
          </a:solidFill>
          <a:ln xmlns:a="http://schemas.openxmlformats.org/drawingml/2006/main" w="9525">
            <a:solidFill>
              <a:srgbClr val="A7D8C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27A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7A5F"/>
                </a:solidFill>
                <a:latin typeface="Arial"/>
                <a:ea typeface="Arial"/>
                <a:cs typeface="Arial"/>
              </a:rPr>
              <a:t>RÉSOLUE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67125" y="30480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34250" y="30480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A981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4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2428875" y="3619500"/>
            <a:ext cx="733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AA981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12435-16A3-4BB4-99D5-508CA9D5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534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534F"/>
                </a:solidFill>
                <a:latin typeface="Arial"/>
                <a:ea typeface="Arial"/>
                <a:cs typeface="Arial"/>
              </a:rPr>
              <a:t>Seuil confirmé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BF1F0-EE41-4C29-BC54-7E09D093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Prise en charge par un opérateur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570DD-BFDA-4917-8FD3-A5139B0C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Retour à la normale ou clôture contrôlée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E1703-62AB-4282-9F85-D4A176F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62500"/>
            <a:ext cx="88011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EE3EB-5B80-4B6C-ACA6-45ECF601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61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Chaque transition enregistre l’auteur et l’heure. Une alerte résolue ne peut plus être acquittée ni rouverte sans créer un nouveau concept métier.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4FB91-4069-43C6-82AC-AE86F62F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DE720-196A-423F-BF32-538B1096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8723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4F1712-D9F5-4F87-A5B9-FE146D2D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COMPOSANTS LOGICIELS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72746-D29F-4033-81F1-8F1B5DF1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Architecture modulaire par responsabilités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4699B-EBAA-4361-9F44-904ED678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66B31-8B4D-4D51-BB51-6C1B0589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002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A7D3E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Interface React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E61E5-505B-46FE-8862-8D5BC2C3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0955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267A5"/>
          </a:solidFill>
          <a:ln xmlns:a="http://schemas.openxmlformats.org/drawingml/2006/main" w="9525">
            <a:solidFill>
              <a:srgbClr val="1267A5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Spring Boot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67000" y="2476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E245C-A058-4FDE-99C1-8AE3258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1435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9525">
            <a:solidFill>
              <a:srgbClr val="BBD2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F11A1-A5FD-4B32-B9CB-587ACB95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Services métier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C9417-297C-4CC4-9A00-19B1E3AB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1952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CE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Inventaire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466C6-FCEA-4C02-8815-B8AEE43E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1952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CE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Collecte &amp; métriques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CB25D-DD1C-4789-AB39-8D8B2BB0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1952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CE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Alertes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E1049-43FD-4E2C-9075-784121C4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90875"/>
            <a:ext cx="1952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CE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Rapports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92934-0003-4D75-967E-BAA2B5BA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1952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CE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Notifications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83BEE-D061-482F-9086-8D954446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1952625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CE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334000" y="2476500"/>
            <a:ext cx="7620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EFC06D-69CD-4089-92EB-567C3966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81625"/>
            <a:ext cx="2476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9525">
            <a:solidFill>
              <a:srgbClr val="0A254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667750" y="4857750"/>
            <a:ext cx="95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FC4C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18B764-7394-49C0-B71B-93EC69C1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00025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Zabbix / SNMP</a:t>
            </a:r>
          </a:p>
        </p:txBody>
      </p:sp>
      <p:cxnSp>
        <p:nvCxnSpPr>
          <p:cNvPr id="44" name=""/>
          <p:cNvCxnSpPr>
            <a:stCxn xmlns:a="http://schemas.openxmlformats.org/drawingml/2006/main" id="1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667000" y="3190875"/>
            <a:ext cx="34290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0623A-5268-4B95-9F84-02681BDB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2095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9525">
            <a:solidFill>
              <a:srgbClr val="F1D5A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SMTP</a:t>
            </a:r>
          </a:p>
        </p:txBody>
      </p:sp>
      <p:cxnSp>
        <p:nvCxnSpPr>
          <p:cNvPr id="46" name=""/>
          <p:cNvCxnSpPr>
            <a:stCxn xmlns:a="http://schemas.openxmlformats.org/drawingml/2006/main" id="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5334000" y="3190875"/>
            <a:ext cx="76200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FF948-CF9C-4AD6-87D6-4E354D84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Ports applicatifs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08E60-5655-47F6-9769-7CDB8D0E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7A"/>
                </a:solidFill>
                <a:latin typeface="Arial"/>
                <a:ea typeface="Arial"/>
                <a:cs typeface="Arial"/>
              </a:rPr>
              <a:t>Les adaptateurs SNMP, Zabbix, JPA et SMTP restent remplaçables sans modifier les règles métier.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7D54E-2050-4A9F-B7FC-707376E6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1A55E-A652-4839-A3AA-80C77663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0613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CB381E-ABB1-41FB-96CA-3488BE47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TRAJECTOIRE TECHNIQUE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F0530-B3D2-4D32-A884-67E7E1C2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A254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2540"/>
                </a:solidFill>
                <a:latin typeface="Arial"/>
                <a:ea typeface="Arial"/>
                <a:cs typeface="Arial"/>
              </a:rPr>
              <a:t>Déploiement actuel et 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FF08D-EC5D-4DC0-ABB6-40EDAB92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3453B-5423-443F-B01A-0575F0D5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AUJOURD’HUI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9293E-CA76-49D6-A19D-A9672A3F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49530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D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E32D5-4901-4545-8FF7-2E9B344F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1428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Navigateur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89EDA-0A66-43C5-AC58-5443A12C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28875"/>
            <a:ext cx="1714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React / Vite</a:t>
            </a:r>
          </a:p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:5173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3F71F-35BA-4E23-B377-EC219E62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24250"/>
            <a:ext cx="1714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Spring Boot</a:t>
            </a:r>
          </a:p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:8080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1E990-3069-4ECE-80CC-7735728C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1428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9525">
            <a:solidFill>
              <a:srgbClr val="0A2540"/>
            </a:solidFill>
            <a:prstDash val="solid"/>
          </a:ln>
        </p:spPr>
        <p:txBody>
          <a:bodyPr xmlns:a="http://schemas.openxmlformats.org/drawingml/2006/main" anchor="ctr">
            <a:normAutofit fontScale="9488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 16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</a:t>
            </a:r>
          </a:p>
        </p:txBody>
      </p:sp>
      <p:cxnSp>
        <p:nvCxnSpPr>
          <p:cNvPr id="3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28875" y="273843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952875" y="3048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428875" y="383381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9DD2B-2C25-490C-9FBD-EB056E19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192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65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6511"/>
                </a:solidFill>
                <a:latin typeface="Arial"/>
                <a:ea typeface="Arial"/>
                <a:cs typeface="Arial"/>
              </a:rPr>
              <a:t>CIBLE À VALIDER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6F198-0BC3-404C-B718-974F6841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000625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0A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76C7A-4F27-43E6-8C87-DB0945C4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1809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Nginx / HTTPS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0B18C-9BAE-4EA1-9DD2-48705EDD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381250"/>
            <a:ext cx="1809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EAF5FA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6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67A5"/>
                </a:solidFill>
                <a:latin typeface="Arial"/>
                <a:ea typeface="Arial"/>
                <a:cs typeface="Arial"/>
              </a:rPr>
              <a:t>Frontend +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245051-4167-47B4-9C71-61CDE1C6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67125"/>
            <a:ext cx="1809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A2540"/>
          </a:solidFill>
          <a:ln xmlns:a="http://schemas.openxmlformats.org/drawingml/2006/main" w="9525">
            <a:solidFill>
              <a:srgbClr val="0A2540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C810C-9996-4A8F-94D1-7E134133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67125"/>
            <a:ext cx="180975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4C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B3A"/>
                </a:solidFill>
                <a:latin typeface="Arial"/>
                <a:ea typeface="Arial"/>
                <a:cs typeface="Arial"/>
              </a:rPr>
              <a:t>Zabbix / SMTP</a:t>
            </a:r>
          </a:p>
        </p:txBody>
      </p:sp>
      <p:cxnSp>
        <p:nvCxnSpPr>
          <p:cNvPr id="4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877300" y="2690813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0191750" y="30003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7A5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8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7972425" y="3000375"/>
            <a:ext cx="2219325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8A23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CF664-1E36-42A6-A844-6801CFD0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Le dépôt exécute aujourd’hui un environnement local natif. La conteneurisation et le reverse proxy restent des choix de déploiement cible.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AF0DA-85F9-40B0-93E0-AD8590F6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TRANS-DIC1  •  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3AA4D-7ACA-4587-B078-1E6C82F4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B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6B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62872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602E8-6E99-43F8-B1D1-D9DAB091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Prochaines étapes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A0D09-8176-49E7-A567-CAE1A728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Le modèle cible doit maintenant guider l’implémentation, avec validation métier avant la persistance.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18717-3AAB-4127-8483-8824FC42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99F60-237D-405C-BE8C-78E6536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90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Valider le modèle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EF986-3A67-40C2-93E1-AE91F55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Confirmer sites, types d’équipement, unités et règles de déduplication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CAA67-0614-436E-8319-C1C02BE5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A324F-0485-4FC6-9BE1-47A80F6B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038AC-5BC6-4877-A66D-B51384D7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Construire le cœur métier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E01F9-706F-494B-B817-BF3A404E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Implémenter inventaire, collecte, métriques et règles d’alerte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137FB-21A8-4B65-BA29-9464F5C3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818DC-DC3D-442B-8707-37170A9D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DE978D-BDB9-4E6C-BEE5-C5572F8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Sécuriser les opérations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87541-A6BD-478F-A57A-5A37EC7D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Appliquer RBAC, audit et protection des secrets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ED461-F6C2-4AAB-A30F-1215DAD3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703A2-DB00-4AAC-B6CA-B29401E2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3A436-7E31-45F9-A326-EAB61A0D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Industrialiser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01D9A-4254-40AA-8A4F-989DF4F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482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Ajouter notifications, rapports et déploiement cible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CD36D-96D8-46A5-BCEE-3C7E440A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1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64615-BB0F-414C-9DA1-764A0A65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B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B4D8"/>
                </a:solidFill>
                <a:latin typeface="Arial"/>
                <a:ea typeface="Arial"/>
                <a:cs typeface="Arial"/>
              </a:rPr>
              <a:t>Objectif final : transformer les mesures techniques en décisions opérationnelles rapides et traçables.</a:t>
            </a:r>
          </a:p>
        </p:txBody>
      </p:sp>
    </p:spTree>
    <p:extLst>
      <p:ext uri="{BB962C8B-B14F-4D97-AF65-F5344CB8AC3E}">
        <p14:creationId xmlns:p14="http://schemas.microsoft.com/office/powerpoint/2010/main" val="1893381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2026-10-08T23:59:19.8920000Z</dcterms:created>
  <dcterms:modified xsi:type="dcterms:W3CDTF">2026-10-08T23:59:19.8920000Z</dcterms:modified>
</coreProperties>
</file>