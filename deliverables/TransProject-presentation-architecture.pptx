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12debe83a44efb" /><Relationship Type="http://schemas.openxmlformats.org/officeDocument/2006/relationships/extended-properties" Target="/docProps/app.xml" Id="R40db3e7dad7340c8" /><Relationship Type="http://schemas.openxmlformats.org/officeDocument/2006/relationships/officeDocument" Target="/ppt/presentation.xml" Id="Rd103bedb3baa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ae4a7af234b4a"/>
  </p:sldMasterIdLst>
  <p:notesMasterIdLst>
    <p:notesMasterId xmlns:r="http://schemas.openxmlformats.org/officeDocument/2006/relationships" r:id="Rcdd95a04dbd14c96"/>
  </p:notesMasterIdLst>
  <p:sldIdLst>
    <p:sldId xmlns:r="http://schemas.openxmlformats.org/officeDocument/2006/relationships" id="256" r:id="R214a189a6f064e16"/>
    <p:sldId xmlns:r="http://schemas.openxmlformats.org/officeDocument/2006/relationships" id="257" r:id="Red5604ba5aca4d25"/>
    <p:sldId xmlns:r="http://schemas.openxmlformats.org/officeDocument/2006/relationships" id="258" r:id="R512fe1679beb4014"/>
    <p:sldId xmlns:r="http://schemas.openxmlformats.org/officeDocument/2006/relationships" id="259" r:id="R8dc4be33c412451b"/>
    <p:sldId xmlns:r="http://schemas.openxmlformats.org/officeDocument/2006/relationships" id="260" r:id="Rb6fd0871f0774da6"/>
    <p:sldId xmlns:r="http://schemas.openxmlformats.org/officeDocument/2006/relationships" id="261" r:id="R6f87f049e1e240ee"/>
    <p:sldId xmlns:r="http://schemas.openxmlformats.org/officeDocument/2006/relationships" id="262" r:id="R5a56930c23b4408e"/>
    <p:sldId xmlns:r="http://schemas.openxmlformats.org/officeDocument/2006/relationships" id="263" r:id="R767a3b7c15014761"/>
    <p:sldId xmlns:r="http://schemas.openxmlformats.org/officeDocument/2006/relationships" id="264" r:id="R4ffc5cf990924e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a7ef6b49a4891" /><Relationship Type="http://schemas.openxmlformats.org/officeDocument/2006/relationships/slideMaster" Target="/ppt/slideMasters/slideMaster1.xml" Id="Re63ae4a7af234b4a" /><Relationship Type="http://schemas.openxmlformats.org/officeDocument/2006/relationships/notesMaster" Target="/ppt/notesMasters/notesMaster1.xml" Id="Rcdd95a04dbd14c96" /><Relationship Type="http://schemas.openxmlformats.org/officeDocument/2006/relationships/presProps" Target="/ppt/presProps.xml" Id="Rd1a0c5b1d2794d8d" /><Relationship Type="http://schemas.openxmlformats.org/officeDocument/2006/relationships/tableStyles" Target="/ppt/tableStyles.xml" Id="R4e1e821ea1304fb7" /><Relationship Type="http://schemas.openxmlformats.org/officeDocument/2006/relationships/slide" Target="/ppt/slides/slide1.xml" Id="R214a189a6f064e16" /><Relationship Type="http://schemas.openxmlformats.org/officeDocument/2006/relationships/slide" Target="/ppt/slides/slide2.xml" Id="Red5604ba5aca4d25" /><Relationship Type="http://schemas.openxmlformats.org/officeDocument/2006/relationships/slide" Target="/ppt/slides/slide3.xml" Id="R512fe1679beb4014" /><Relationship Type="http://schemas.openxmlformats.org/officeDocument/2006/relationships/slide" Target="/ppt/slides/slide4.xml" Id="R8dc4be33c412451b" /><Relationship Type="http://schemas.openxmlformats.org/officeDocument/2006/relationships/slide" Target="/ppt/slides/slide5.xml" Id="Rb6fd0871f0774da6" /><Relationship Type="http://schemas.openxmlformats.org/officeDocument/2006/relationships/slide" Target="/ppt/slides/slide6.xml" Id="R6f87f049e1e240ee" /><Relationship Type="http://schemas.openxmlformats.org/officeDocument/2006/relationships/slide" Target="/ppt/slides/slide7.xml" Id="R5a56930c23b4408e" /><Relationship Type="http://schemas.openxmlformats.org/officeDocument/2006/relationships/slide" Target="/ppt/slides/slide8.xml" Id="R767a3b7c15014761" /><Relationship Type="http://schemas.openxmlformats.org/officeDocument/2006/relationships/slide" Target="/ppt/slides/slide9.xml" Id="R4ffc5cf990924e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32d52b408647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241041aa24c43" /><Relationship Type="http://schemas.openxmlformats.org/officeDocument/2006/relationships/notesMaster" Target="/ppt/notesMasters/notesMaster1.xml" Id="R3224fc9afb7a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57be5de2294768" /><Relationship Type="http://schemas.openxmlformats.org/officeDocument/2006/relationships/notesMaster" Target="/ppt/notesMasters/notesMaster1.xml" Id="R9d6f3cbc5d644d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81e64a4daa47a0" /><Relationship Type="http://schemas.openxmlformats.org/officeDocument/2006/relationships/notesMaster" Target="/ppt/notesMasters/notesMaster1.xml" Id="R445600cd1bcc4e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fbf603e9c645f2" /><Relationship Type="http://schemas.openxmlformats.org/officeDocument/2006/relationships/notesMaster" Target="/ppt/notesMasters/notesMaster1.xml" Id="Re6022ee9d18143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5fb31cf2e48ca" /><Relationship Type="http://schemas.openxmlformats.org/officeDocument/2006/relationships/notesMaster" Target="/ppt/notesMasters/notesMaster1.xml" Id="R938bb31102fd4b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f4ac2aceb74b40" /><Relationship Type="http://schemas.openxmlformats.org/officeDocument/2006/relationships/notesMaster" Target="/ppt/notesMasters/notesMaster1.xml" Id="R252031ffc91047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6eaf17cb314bd0" /><Relationship Type="http://schemas.openxmlformats.org/officeDocument/2006/relationships/notesMaster" Target="/ppt/notesMasters/notesMaster1.xml" Id="R11f3fa37180d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f67464a48e4a94" /><Relationship Type="http://schemas.openxmlformats.org/officeDocument/2006/relationships/notesMaster" Target="/ppt/notesMasters/notesMaster1.xml" Id="R21f4e99a0c6043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870dc3ff5e4902" /><Relationship Type="http://schemas.openxmlformats.org/officeDocument/2006/relationships/notesMaster" Target="/ppt/notesMasters/notesMaster1.xml" Id="R04d370fe7aa047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README.md ; docs/architecture/00-overview.md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README.md ; docs/architecture/00-overview.md — état observé au Sprint 0 et cible recommandée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docs/architecture/diagrams/01-use-cases/global-use-cases.mmd ; EXPLICATIONS.md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docs/architecture/diagrams/02-domain/domain-overview.mmd ; domain-model.md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docs/architecture/diagrams/03-sequences/collection-and-alert.mmd ; 04-activities/incident-lifecycle.mmd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docs/architecture/diagrams/05-states/alert-lifecycle.mmd ; 03-sequences/acknowledge-and-resolve-alert.mmd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docs/architecture/diagrams/06-components/components.mmd ; 02-domain/design-model.mmd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docs/architecture/diagrams/07-deployment/deployment-current.mmd et deployment-target.mmd ; docs/devops/architecture.md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docs/architecture/00-overview.md — workflows prioritaires, invariants et points à confirmer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8d4fecaca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f7fb03b462489a" /><Relationship Type="http://schemas.openxmlformats.org/officeDocument/2006/relationships/slideLayout" Target="/ppt/slideLayouts/slideLayout1.xml" Id="R261f2b090f1540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1f2b090f1540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f67ccf67646b1" /><Relationship Type="http://schemas.openxmlformats.org/officeDocument/2006/relationships/notesSlide" Target="/ppt/notesSlides/notesSlide1.xml" Id="Rf55d5b5f506043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bfdcd9944c12" /><Relationship Type="http://schemas.openxmlformats.org/officeDocument/2006/relationships/notesSlide" Target="/ppt/notesSlides/notesSlide2.xml" Id="R7aa1434a7b954c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176b7b8114997" /><Relationship Type="http://schemas.openxmlformats.org/officeDocument/2006/relationships/notesSlide" Target="/ppt/notesSlides/notesSlide3.xml" Id="R3d6b50a619304c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884e8ef2d4c4f" /><Relationship Type="http://schemas.openxmlformats.org/officeDocument/2006/relationships/notesSlide" Target="/ppt/notesSlides/notesSlide4.xml" Id="R67afffb9c2ac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613d1ab6c456a" /><Relationship Type="http://schemas.openxmlformats.org/officeDocument/2006/relationships/notesSlide" Target="/ppt/notesSlides/notesSlide5.xml" Id="R949bb2a14c834d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70dc9c63c4d07" /><Relationship Type="http://schemas.openxmlformats.org/officeDocument/2006/relationships/notesSlide" Target="/ppt/notesSlides/notesSlide6.xml" Id="R7654044058a149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e525732846aa" /><Relationship Type="http://schemas.openxmlformats.org/officeDocument/2006/relationships/notesSlide" Target="/ppt/notesSlides/notesSlide7.xml" Id="R5b174c862b3b42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880f070e2461a" /><Relationship Type="http://schemas.openxmlformats.org/officeDocument/2006/relationships/notesSlide" Target="/ppt/notesSlides/notesSlide8.xml" Id="R66a852ba61b649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d9882985149dc" /><Relationship Type="http://schemas.openxmlformats.org/officeDocument/2006/relationships/notesSlide" Target="/ppt/notesSlides/notesSlide9.xml" Id="Rf0468af2c8664a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97E0A-B77C-44C0-9EF9-5D6B1B11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0">
            <a:solidFill>
              <a:srgbClr val="25B4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65E7A-D9DE-490C-8C4D-A4A63D1E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TRANS-DIC1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3C551-A0B5-4F9C-A1C8-BCDEDB44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Supervision centralisée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 infrastructures 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D3397-3B6F-4548-A36D-E2E64F1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Architecture fonctionnelle et technique issue des diagrammes du projet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A42A3-E120-4FFB-AAC4-50B0C8AC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59"/>
          </a:solidFill>
          <a:ln xmlns:a="http://schemas.openxmlformats.org/drawingml/2006/main" w="9525">
            <a:solidFill>
              <a:srgbClr val="2B6C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Équipements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350C6-027F-4302-B665-53B3397E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59"/>
          </a:solidFill>
          <a:ln xmlns:a="http://schemas.openxmlformats.org/drawingml/2006/main" w="9525">
            <a:solidFill>
              <a:srgbClr val="2B6C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95346-6CF8-4276-95EF-ED345FE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59"/>
          </a:solidFill>
          <a:ln xmlns:a="http://schemas.openxmlformats.org/drawingml/2006/main" w="9525">
            <a:solidFill>
              <a:srgbClr val="2B6C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01E74-5B02-498D-82E2-BA649E65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Pilotage NOC</a:t>
            </a:r>
          </a:p>
        </p:txBody>
      </p:sp>
      <p:cxnSp>
        <p:nvCxnSpPr>
          <p:cNvPr id="2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429750" y="2047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B4D8"/>
            </a:solidFill>
            <a:prstDash val="solid"/>
            <a:head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429750" y="31432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B4D8"/>
            </a:solidFill>
            <a:prstDash val="solid"/>
            <a:head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429750" y="42386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B4D8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CEEDB-8C0C-4BD9-B540-2CA7105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8D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D6"/>
                </a:solidFill>
                <a:latin typeface="Arial"/>
                <a:ea typeface="Arial"/>
                <a:cs typeface="Arial"/>
              </a:rPr>
              <a:t>Octobre 2026</a:t>
            </a:r>
          </a:p>
        </p:txBody>
      </p:sp>
    </p:spTree>
    <p:extLst>
      <p:ext uri="{BB962C8B-B14F-4D97-AF65-F5344CB8AC3E}">
        <p14:creationId xmlns:p14="http://schemas.microsoft.com/office/powerpoint/2010/main" val="467804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BFC51-1A3F-486D-A748-65E264E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VISION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9E831-7718-4D23-8521-ED44D51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Une plateforme pour voir, détecter et traiter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482BE-5642-4B6D-85BD-94D0DA81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904A6-F822-4660-BFEC-DEF67216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Trans-DIC1 centralise la supervision réseau et serveurs de l’École Polytechnique de Thiès. La chaîne métier relie chaque mesure à une décision opérationnelle traçable.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15CC4-1AA4-4891-AFD9-627CD408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Inventorier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actifs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CC441-F26D-4022-8AEC-69AA1F5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Collecter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métriques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19350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1D5B5-6950-4693-A2AD-6EBB1870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Détecter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 incidents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19625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49B84-D480-481D-A466-E24A7EBC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Traiter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alertes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19900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8DC62-B582-4E14-BBCD-3D8CCDBF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Produire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rapports</a:t>
            </a:r>
          </a:p>
        </p:txBody>
      </p: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20175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63C87-5258-4DB4-BC98-F99145BD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D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CDC64-9AF5-4219-9CC3-71325B2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État actuel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A7BAD-AC1A-4C13-94DD-44586A4C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Socle Sprint 0 opérationnel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API, interface, PostgreSQL, tests et CI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A6C8A-42FB-42D4-A05D-E74FA0C5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33875"/>
            <a:ext cx="55054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71E12-49C3-49CE-AC99-B6681802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Cible métier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86DFA-2F51-4092-B78D-B24BE7D0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Inventaire, collecte Zabbix/SNMP, alerting, notifications, rapports, RBAC et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ACA67-1B60-42C3-A7C7-A8D316BC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18E5A-8FF2-4295-8F67-0308A9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68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602EA-C136-4095-8BEE-A011FBAB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CAS D’UTILISATION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BFC9A-DE21-4BA5-949A-061A646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Acteurs et responsabilités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D3296-3BE0-4D06-B5F3-84D5BF6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A8FF5-D899-499A-A5E1-0628282F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B9D3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FBF21-4FC4-48EE-9EF9-F1467F8B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TRANS-DIC1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A5782-B530-414B-8D0B-2D0DB2CC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3810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Tableau de bord</a:t>
            </a:r>
          </a:p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Métriques et alertes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4DDFD-D7F9-4470-9E09-FC1162E8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3810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Inventaire, rôles</a:t>
            </a:r>
          </a:p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et règles d’alerte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9E849-B73F-4E20-BD88-5819A6D1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3810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Acquittement, résolution</a:t>
            </a:r>
          </a:p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et rapports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41B19-9F44-42F1-AA99-88445AC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5E0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Administrateur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05E0D-F461-40BE-81EE-596F6CAE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5E0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Opérateur NOC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D7600-7D61-43D0-84CD-4E407A6E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5E0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Lecteur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EBE37-C75A-4EF7-87C3-C0FE7DD8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5262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Planificateur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CB4AC-3833-45D9-8DED-7DAE0E30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Équipement / Zabbix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B6B56-D326-415D-8D3C-54495BB7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3387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Service SMTP</a:t>
            </a:r>
          </a:p>
        </p:txBody>
      </p: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14625" y="2262188"/>
            <a:ext cx="619125" cy="1404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14625" y="3452813"/>
            <a:ext cx="619125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2714625" y="3667125"/>
            <a:ext cx="619125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8858250" y="2262188"/>
            <a:ext cx="619125" cy="1404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8858250" y="3452813"/>
            <a:ext cx="619125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8858250" y="3667125"/>
            <a:ext cx="619125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345A2-A100-49D3-813A-087E70DF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52749-9094-4340-A2CD-969C41CB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6929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CDC8B-6736-439C-93C2-DEEE77A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MODÈLE MÉTIER 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4240C-EB1F-4BAD-ACFE-C1A55CCF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Le domaine relie l’infrastructure à l’incident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753C1-5955-4381-960A-00F6CCC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8EE81-764C-4754-90B4-FA15DFDF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524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AA918-B351-49E7-83D2-1406948F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9DCBD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Équipement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9AB8B-8BED-4179-84B4-1529821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Métrique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8FD6D-845D-4484-BC1C-B4371F0C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Règle d’alerte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F9DF4-364F-45B3-B5C5-2865809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1714500" cy="809625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36691-1F3E-4618-B048-669FEDD1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9526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Notification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9712A-43AC-4407-8F3A-A13C4CD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9526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Rapport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06A45-FCB2-4E3B-B506-6AA3FF4C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7200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9525">
            <a:solidFill>
              <a:srgbClr val="B9DF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7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7A5F"/>
                </a:solidFill>
                <a:latin typeface="Arial"/>
                <a:ea typeface="Arial"/>
                <a:cs typeface="Arial"/>
              </a:rPr>
              <a:t>Utilisateur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43125" y="2286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29125" y="2286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67500" y="2286000"/>
            <a:ext cx="61912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667500" y="3071813"/>
            <a:ext cx="619125" cy="642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001125" y="2286000"/>
            <a:ext cx="61912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01125" y="3071813"/>
            <a:ext cx="619125" cy="1119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8143875" y="34766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A981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E28E3-5E28-4E47-8ACD-0DD6022C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76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432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regroupe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8E13C-242F-4F76-8B8F-185D086C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produit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58BD0-E83E-44FE-98A9-B80298DA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32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déclenche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0AF5E-7329-4F6A-BAA7-95B99DF6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Principes : métriques immuables et horodatées en UTC, une alerte active par occurrence continue, actions sensibles auditées.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86764-587F-4537-AE04-BB5B5DC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0CBD6-3559-4600-9D07-7742E2E4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6327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5228CD-E176-49BC-8958-8D997B7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FLUX DE COLLECTE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F0A7A-47D9-44CB-9FB3-C44EA8E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De l’observation brute à l’alerte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C7E6D-73BE-4255-B6E6-DFADFC8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057E0-14A7-4892-BC10-B51ECB73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AA24B-4C13-461C-B357-C7D17607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9264F-E7F6-4EB2-9E7C-A3A4A92C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Planification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5CD3C-05D7-4DEE-8EAC-01D0F82E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Déclenche un cycle sans doublon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072BF-5076-4A14-B44A-DCF0FED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1C33C-0587-4275-A628-C37CA4F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36794-D42F-4631-9E24-63F97073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Collecte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4C964-0F23-4C4B-B17D-6556A911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Interroge Zabbix ou SNMP</a:t>
            </a:r>
          </a:p>
        </p:txBody>
      </p:sp>
      <p:cxnSp>
        <p:nvCxnSpPr>
          <p:cNvPr id="49" name=""/>
          <p:cNvCxnSpPr>
            <a:stCxn xmlns:a="http://schemas.openxmlformats.org/drawingml/2006/main" id="4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68592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6AB46-4CB3-4DE6-B686-65F7C6AD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90E9B-615F-4DAF-AFDE-EB64AF92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8369E-9989-4354-B367-028922C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Normalisation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2578F-AA9B-4365-8321-BE2CC7E9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Valide, convertit et horodate en UTC</a:t>
            </a:r>
          </a:p>
        </p:txBody>
      </p:sp>
      <p:cxnSp>
        <p:nvCxnSpPr>
          <p:cNvPr id="54" name=""/>
          <p:cNvCxnSpPr>
            <a:stCxn xmlns:a="http://schemas.openxmlformats.org/drawingml/2006/main" id="8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360997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E5B72-AEF8-4305-8128-1898D991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FA071-F46B-486B-8B7C-649B9793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C65D3-ABBB-4704-81BC-89099AE3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Persistance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C744C-EB05-491A-BA24-36FA77E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Conserve la métrique par équipement</a:t>
            </a:r>
          </a:p>
        </p:txBody>
      </p:sp>
      <p:cxnSp>
        <p:nvCxnSpPr>
          <p:cNvPr id="59" name=""/>
          <p:cNvCxnSpPr>
            <a:stCxn xmlns:a="http://schemas.openxmlformats.org/drawingml/2006/main" id="13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553402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C881D-B569-452E-9C39-B42AB94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7A868-E41D-43B3-9A55-A7297206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72CE5-1036-4AB1-9D64-1B919257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Évaluation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FB5AC-3376-46B3-93DB-A5F05718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Applique seuil et durée de confirmation</a:t>
            </a:r>
          </a:p>
        </p:txBody>
      </p:sp>
      <p:cxnSp>
        <p:nvCxnSpPr>
          <p:cNvPr id="64" name=""/>
          <p:cNvCxnSpPr>
            <a:stCxn xmlns:a="http://schemas.openxmlformats.org/drawingml/2006/main" id="1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745807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9535C-69C9-4F06-A3DF-7E2D182D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6C407-C2C4-466D-8229-DF1C5339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8FC4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560826-5D38-4C70-A82A-41C6F999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Alerte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B9B88-5F17-40BE-8D82-39928826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Ouvre ou met à jour l’incident</a:t>
            </a:r>
          </a:p>
        </p:txBody>
      </p:sp>
      <p:cxnSp>
        <p:nvCxnSpPr>
          <p:cNvPr id="69" name=""/>
          <p:cNvCxnSpPr>
            <a:stCxn xmlns:a="http://schemas.openxmlformats.org/drawingml/2006/main" id="23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938212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E08129-A3AB-4640-8DDD-63D557F7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EC7D-675B-4A1A-AA71-FBAFA0CE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Règle de déduplication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FDE6D-54C3-4343-9117-3691E4CE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 une alerte active représente déjà l’incident, le système la met à jour au lieu d’en créer une nouvelle.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975F03-23D2-430E-B80B-D1CF26A0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C4EF1D-B0B3-445F-8240-D214EFF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8516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BFB3C-A0B1-40FB-AE2F-A7B25F75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TRAITEMENT D’INCIDENT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F3E7A-6874-4433-B249-15FC826B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Cycle de vie contrôlé d’une alerte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B92EE-1A4E-41E3-B1D4-C02F205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85098-854F-4519-AD97-C7DB30E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DECEB"/>
          </a:solidFill>
          <a:ln xmlns:a="http://schemas.openxmlformats.org/drawingml/2006/main" w="9525">
            <a:solidFill>
              <a:srgbClr val="F4B7B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OUVERTE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1A703-D177-4F2D-A8D8-0F3ACC0D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EDC67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ACQUITTÉE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B4CEF-550D-44F0-ACA7-1E6F960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9525">
            <a:solidFill>
              <a:srgbClr val="A7D8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7A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A5F"/>
                </a:solidFill>
                <a:latin typeface="Arial"/>
                <a:ea typeface="Arial"/>
                <a:cs typeface="Arial"/>
              </a:rPr>
              <a:t>RÉSOLUE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67125" y="30480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head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34250" y="30480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A981"/>
            </a:solidFill>
            <a:prstDash val="solid"/>
            <a:head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428875" y="3619500"/>
            <a:ext cx="733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A981"/>
            </a:solidFill>
            <a:prstDash val="solid"/>
            <a:head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E367A-6A93-432C-BD8C-55B144A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Seuil confirmé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1D1BF-43AF-4B8F-A432-A54A641F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Prise en charge par un opérateur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CFBD9-925A-4908-A1F3-2859786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Retour à la normale ou clôture contrôlée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7D611-9516-43DF-BA42-CE6E5B4F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801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4FFBB-F70F-4194-8299-80B09EB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Chaque transition enregistre l’auteur et l’heure. Une alerte résolue ne peut plus être acquittée ni rouverte sans créer un nouveau concept métier.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BDC39-4815-4F3B-B5C5-29A1FBFD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6B677-5EE0-4B1D-A05E-A4A311AE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1352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0632D-613E-493C-9440-0A68A43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COMPOSANTS LOGICIELS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99D4C-A743-4CBE-A254-D1008948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Architecture modulaire par responsabilités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774F0-033C-49D4-859A-78669DC8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89DEE-AE80-4492-B310-4D626B8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0002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A7D3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Interface React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DC56A-EE86-4294-B1A3-0D96EE2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Spring Boot</a:t>
            </a:r>
          </a:p>
        </p:txBody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DE85F-ACE7-4513-9713-70EF09E0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9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87F4F-DE9F-450A-9F46-6D812D03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9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Collecte &amp; métriques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2A4DD-EEA1-40A8-8EA3-6879204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9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Alertes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BC441-19A1-4B4D-8923-14119182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9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Rapports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A6FAC-B7AF-488E-95C0-10533386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9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1E6DF-BCF0-4DC4-B67C-EA22DDA4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9E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524500" y="1905000"/>
            <a:ext cx="857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524500" y="1905000"/>
            <a:ext cx="30480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2286000"/>
            <a:ext cx="8572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2286000"/>
            <a:ext cx="30480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6F628-C451-422F-AFCA-29FFD6F9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2476500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49" name=""/>
          <p:cNvCxnSpPr>
            <a:stCxn xmlns:a="http://schemas.openxmlformats.org/drawingml/2006/main" id="7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86625" y="2238375"/>
            <a:ext cx="1476375" cy="3048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763000" y="2238375"/>
            <a:ext cx="714375" cy="3048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9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86625" y="3381375"/>
            <a:ext cx="1476375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763000" y="3381375"/>
            <a:ext cx="714375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86625" y="4524375"/>
            <a:ext cx="14763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763000" y="4524375"/>
            <a:ext cx="7143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head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A27FE-5DAC-46E0-8E06-6502272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00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Zabbix / SNMP</a:t>
            </a:r>
          </a:p>
        </p:txBody>
      </p:sp>
      <p:cxnSp>
        <p:nvCxnSpPr>
          <p:cNvPr id="56" name=""/>
          <p:cNvCxnSpPr>
            <a:stCxn xmlns:a="http://schemas.openxmlformats.org/drawingml/2006/main" id="2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762250" y="1905000"/>
            <a:ext cx="581025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AFB2F-3048-4A26-B77A-AD1089E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000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SMTP</a:t>
            </a:r>
          </a:p>
        </p:txBody>
      </p:sp>
      <p:cxnSp>
        <p:nvCxnSpPr>
          <p:cNvPr id="58" name=""/>
          <p:cNvCxnSpPr>
            <a:stCxn xmlns:a="http://schemas.openxmlformats.org/drawingml/2006/main" id="11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2762250" y="4191000"/>
            <a:ext cx="36195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95085-BA7D-485D-B743-41054E52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Ports applicatifs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E1323-C7A8-4A5E-8C15-B954014A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7187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Les adaptateurs SNMP, Zabbix, JPA et SMTP restent remplaçables sans modifier les règles métier.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E4CFE-D48C-429B-8947-BA2C6725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068AE-21F6-4EC1-BF81-C48E82D7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3347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93DA7-8CA1-40D9-9F6C-8240502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TRAJECTOIRE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0254E-05EE-424A-89C4-351998A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Déploiement actuel et 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EC98E-96C2-4AAC-9A99-9F4E34F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4A3F7-A50E-4DCD-9857-7EE0218A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AUJOURD’HUI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A4318-3362-4781-80BC-990E192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9530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92666-35D1-4A92-8391-AF531EBD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1428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Navigateur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AE0B8-167C-4E5A-90D9-B91FB201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28875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React / Vite</a:t>
            </a:r>
          </a:p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:5173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C9500-6BB4-4C2F-838D-4CDA518A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24250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Spring Boot</a:t>
            </a:r>
          </a:p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C470D-1886-4D3E-8853-C4EF45F1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428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  <p:txBody>
          <a:bodyPr xmlns:a="http://schemas.openxmlformats.org/drawingml/2006/main" anchor="ctr">
            <a:normAutofit fontScale="948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16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28875" y="2738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952875" y="3048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428875" y="3833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F4206-A964-49E6-A0A9-3B7B111E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19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CIBLE À VALIDER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E7B3C-527A-4A0E-A3DD-862F34B4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00062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0A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7BBC3-23D3-4B02-B990-4BA1AD7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Nginx / HTTPS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3B7B0-246B-4A68-892D-4BE76C06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Frontend +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4AD72-352B-413E-A01C-01DB0F7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67125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2E6AC-D212-4CD5-A086-C85BDF3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Zabbix / SMTP</a:t>
            </a:r>
          </a:p>
        </p:txBody>
      </p: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77300" y="269081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0191750" y="30003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8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7972425" y="3000375"/>
            <a:ext cx="22193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7BB29-E72D-4C6B-846E-03E10B5D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 dépôt exécute aujourd’hui un environnement local natif. La conteneurisation et le reverse proxy restent des choix de déploiement cible.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3D827-F2AC-4C52-AE7D-24FF4CA6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CE1F2-BBEE-4BD9-A4B0-E9E56AD0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1240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AF118-7AD6-4623-BB02-592FEFDF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Prochaines étapes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F73BE-D497-43A4-94C3-9831B4B9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Le modèle cible doit maintenant guider l’implémentation, avec validation métier avant la persistance.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37AA1-CE08-4890-8F52-6D4D294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62E84-B7E1-4EE7-A1AC-785C5E7E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Valider le modèle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3CB0C-4999-4521-844E-38E9FA13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Confirmer sites, types d’équipement, unités et règles de déduplication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6E309-E147-4436-A311-58AC5EE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34DCF-82FA-42B3-A92F-E50CE61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DFFA7-145B-4017-9D95-4C1422B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Construire le cœur métier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54166-C99A-4F29-A201-CA5B2B9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Implémenter inventaire, collecte, métriques et règles d’alerte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BE539-C244-46B6-9339-A8FD2BBE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C2A1D-2A13-4251-B15D-855842DD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4773D-4CB5-4EAF-92D0-ABEEC42D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Sécuriser les opérations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C52BA-F650-489B-91DC-864741D9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Appliquer RBAC, audit et protection des secrets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67DE4-EED6-4787-8F70-1A80045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AA920-351C-41C2-8B59-2DF2EA6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681AB-35E9-45E2-868F-4F5ADEB8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Industrialiser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07D74-EFCA-4BDC-818E-3C7F1B6D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Ajouter notifications, rapports et déploiement cible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1E699-F9E3-44D3-A8FB-E18B903B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17E47-2C7A-4ACE-86FD-1E5C3A3B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Objectif final : transformer les mesures techniques en décisions opérationnelles rapides et traçables.</a:t>
            </a:r>
          </a:p>
        </p:txBody>
      </p:sp>
    </p:spTree>
    <p:extLst>
      <p:ext uri="{BB962C8B-B14F-4D97-AF65-F5344CB8AC3E}">
        <p14:creationId xmlns:p14="http://schemas.microsoft.com/office/powerpoint/2010/main" val="240836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2026-10-08T23:56:49.6550000Z</dcterms:created>
  <dcterms:modified xsi:type="dcterms:W3CDTF">2026-10-08T23:56:49.6550000Z</dcterms:modified>
</coreProperties>
</file>